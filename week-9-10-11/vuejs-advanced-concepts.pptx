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8" r:id="rId18"/>
    <p:sldId id="272" r:id="rId19"/>
    <p:sldId id="273" r:id="rId20"/>
    <p:sldId id="274" r:id="rId21"/>
    <p:sldId id="275" r:id="rId22"/>
    <p:sldId id="276" r:id="rId23"/>
    <p:sldId id="277" r:id="rId24"/>
    <p:sldId id="287" r:id="rId25"/>
    <p:sldId id="278" r:id="rId26"/>
    <p:sldId id="279" r:id="rId27"/>
    <p:sldId id="280" r:id="rId28"/>
    <p:sldId id="281" r:id="rId29"/>
    <p:sldId id="285" r:id="rId30"/>
    <p:sldId id="282" r:id="rId31"/>
    <p:sldId id="283" r:id="rId32"/>
    <p:sldId id="286" r:id="rId33"/>
    <p:sldId id="284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32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1555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5791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AB876-7A17-53F4-F811-EA914679C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E71D1E-0C0C-FB63-FC57-3EA165B46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43F8BF-E5C9-842B-8878-628D5CD0B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E52ED-5654-6845-34FE-8691F7A551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7904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2E401-8D87-588A-DC12-09A97D04C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D54F47-6445-EBC6-CCD5-3BDFCC5F3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9AD92-B1DF-9C47-F4C0-74BD86B59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C4F58-8871-FC44-D4FE-E3DB300D90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6784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532B7-ECA2-0104-9453-936111B7F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179E22-C401-E690-D3F5-A0FA30C60E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2C4151-8487-FF14-FD49-CEFF1ADA5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7ACC4-7A29-E5E1-7F3F-66DEE583BF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144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6F43F-7A23-4AEA-FF0A-A0F3C7102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F0DF92-98A9-5651-579E-C3457C02A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FE281D-A1D3-62F6-110F-12A00A35E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DB785-03FD-601E-179E-82E8B7A004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1922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F1D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669280" y="914400"/>
            <a:ext cx="2926080" cy="2926080"/>
          </a:xfrm>
          <a:prstGeom prst="rect">
            <a:avLst/>
          </a:prstGeom>
          <a:solidFill>
            <a:srgbClr val="42B883"/>
          </a:solidFill>
          <a:ln/>
          <a:effectLst>
            <a:outerShdw blurRad="508000" dist="50800" dir="8100000" algn="bl" rotWithShape="0">
              <a:srgbClr val="42B883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126480" y="1371600"/>
            <a:ext cx="2011680" cy="2011680"/>
          </a:xfrm>
          <a:prstGeom prst="rect">
            <a:avLst/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0" y="173736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42B8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274320" y="4572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42B8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Vue.js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Management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4320" y="2788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Concepts &amp; Architecture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401568"/>
            <a:ext cx="1389888" cy="347472"/>
          </a:xfrm>
          <a:prstGeom prst="roundRect">
            <a:avLst>
              <a:gd name="adj" fmla="val 13158"/>
            </a:avLst>
          </a:prstGeom>
          <a:solidFill>
            <a:srgbClr val="0F1D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74320" y="340156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 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55648" y="3401568"/>
            <a:ext cx="1389888" cy="347472"/>
          </a:xfrm>
          <a:prstGeom prst="roundRect">
            <a:avLst>
              <a:gd name="adj" fmla="val 13158"/>
            </a:avLst>
          </a:prstGeom>
          <a:solidFill>
            <a:srgbClr val="0F1D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755648" y="340156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 Router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36976" y="3401568"/>
            <a:ext cx="1389888" cy="347472"/>
          </a:xfrm>
          <a:prstGeom prst="roundRect">
            <a:avLst>
              <a:gd name="adj" fmla="val 13158"/>
            </a:avLst>
          </a:prstGeom>
          <a:solidFill>
            <a:srgbClr val="0F1D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236976" y="340156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877056"/>
            <a:ext cx="1389888" cy="347472"/>
          </a:xfrm>
          <a:prstGeom prst="roundRect">
            <a:avLst>
              <a:gd name="adj" fmla="val 13158"/>
            </a:avLst>
          </a:prstGeom>
          <a:solidFill>
            <a:srgbClr val="0F1D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74320" y="387705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55648" y="3877056"/>
            <a:ext cx="1389888" cy="347472"/>
          </a:xfrm>
          <a:prstGeom prst="roundRect">
            <a:avLst>
              <a:gd name="adj" fmla="val 13158"/>
            </a:avLst>
          </a:prstGeom>
          <a:solidFill>
            <a:srgbClr val="0F1D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755648" y="387705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663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fakestoreapi.com  •  Project-Based Learning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760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concepts — from project structure to state management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54864" cy="804672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48640" y="107899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2B8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69848" y="1078992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078992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800600" y="1078992"/>
            <a:ext cx="54864" cy="80467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937760" y="107899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58968" y="1078992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 &amp; Tech Stack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039112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11480" y="2039112"/>
            <a:ext cx="54864" cy="8046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48640" y="203911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69848" y="2039112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Router &amp; Navigation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2039112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800600" y="2039112"/>
            <a:ext cx="54864" cy="8046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937760" y="203911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58968" y="2039112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Communication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2999232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11480" y="2999232"/>
            <a:ext cx="54864" cy="8046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48640" y="299923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69848" y="2999232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Logic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00600" y="2999232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800600" y="2999232"/>
            <a:ext cx="54864" cy="80467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937760" y="299923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58968" y="2999232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 Layer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11480" y="3959352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11480" y="3959352"/>
            <a:ext cx="54864" cy="8046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48640" y="395935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069848" y="3959352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Route Guards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00600" y="3959352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800600" y="3959352"/>
            <a:ext cx="54864" cy="8046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937760" y="395935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458968" y="3959352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Vuex State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5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1097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42B8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286000" y="16459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Architecture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0" y="2514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Container Model — the big picture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760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Container — who talks to whom?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566160" y="1078992"/>
            <a:ext cx="20116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42B88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16128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23360" y="11612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/ Browser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0" y="1737360"/>
            <a:ext cx="0" cy="384048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617720" y="1828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0040" y="2121408"/>
            <a:ext cx="8503920" cy="2377440"/>
          </a:xfrm>
          <a:prstGeom prst="rect">
            <a:avLst/>
          </a:prstGeom>
          <a:solidFill>
            <a:srgbClr val="E8F5EE"/>
          </a:solidFill>
          <a:ln w="1905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457200" y="2176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Vue.js SPA  [Vue 3 + Vue Router + Vite]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" y="2505456"/>
            <a:ext cx="15544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42B88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475488" y="2505456"/>
            <a:ext cx="1554480" cy="54864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548640" y="2596896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App.vue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5488" y="4059936"/>
            <a:ext cx="1554480" cy="256032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75488" y="40599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029968" y="3410712"/>
            <a:ext cx="128016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2157984" y="2505456"/>
            <a:ext cx="15544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2157984" y="2505456"/>
            <a:ext cx="155448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2231136" y="2596896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index.js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157984" y="4059936"/>
            <a:ext cx="1554480" cy="2560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2157984" y="40599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712464" y="3410712"/>
            <a:ext cx="128016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3840480" y="2505456"/>
            <a:ext cx="15544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3840480" y="2505456"/>
            <a:ext cx="155448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3913632" y="2596896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views/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840480" y="4059936"/>
            <a:ext cx="155448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3840480" y="40599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394960" y="3410712"/>
            <a:ext cx="128016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5522976" y="2505456"/>
            <a:ext cx="15544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5522976" y="2505456"/>
            <a:ext cx="155448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5596128" y="2596896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Modal.vue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522976" y="4059936"/>
            <a:ext cx="1554480" cy="25603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5522976" y="40599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7077456" y="3410712"/>
            <a:ext cx="128016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4"/>
          <p:cNvSpPr/>
          <p:nvPr/>
        </p:nvSpPr>
        <p:spPr>
          <a:xfrm>
            <a:off x="7205472" y="2505456"/>
            <a:ext cx="15544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Shape 35"/>
          <p:cNvSpPr/>
          <p:nvPr/>
        </p:nvSpPr>
        <p:spPr>
          <a:xfrm>
            <a:off x="7205472" y="2505456"/>
            <a:ext cx="155448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/>
          <p:nvPr/>
        </p:nvSpPr>
        <p:spPr>
          <a:xfrm>
            <a:off x="7278624" y="2596896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productApi.js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7205472" y="4059936"/>
            <a:ext cx="1554480" cy="2560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7205472" y="40599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layer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572000" y="4328932"/>
            <a:ext cx="0" cy="27432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/>
          <p:nvPr/>
        </p:nvSpPr>
        <p:spPr>
          <a:xfrm>
            <a:off x="4626864" y="43289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 / JSON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2377440" y="4603252"/>
            <a:ext cx="4389120" cy="457200"/>
          </a:xfrm>
          <a:prstGeom prst="rect">
            <a:avLst/>
          </a:prstGeom>
          <a:solidFill>
            <a:srgbClr val="35495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4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4667260"/>
            <a:ext cx="292608" cy="292608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2880360" y="46672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Store API  —  fakestoreapi.com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5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1097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42B8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286000" y="16459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Folder Structure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0" y="2514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 — the anatomy of the app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Folder 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760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has a single responsibility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02208"/>
            <a:ext cx="85039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94792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9387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108960" y="947928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source directory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" y="1203960"/>
            <a:ext cx="8503920" cy="274320"/>
          </a:xfrm>
          <a:prstGeom prst="rect">
            <a:avLst/>
          </a:prstGeom>
          <a:solidFill>
            <a:srgbClr val="EEF2F7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24968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124053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108960" y="1249680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entry point — init Vue + Router, mount to DOM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20040" y="1505712"/>
            <a:ext cx="85039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551432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15422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App.vue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108960" y="1551432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component — nav bar + &lt;RouterView /&gt;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20040" y="1807464"/>
            <a:ext cx="8503920" cy="274320"/>
          </a:xfrm>
          <a:prstGeom prst="rect">
            <a:avLst/>
          </a:prstGeom>
          <a:solidFill>
            <a:srgbClr val="EEF2F7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853184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18440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style.css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3108960" y="185318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CSS styles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20040" y="2109216"/>
            <a:ext cx="85039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154936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21457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3108960" y="2154936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service layer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320040" y="2410968"/>
            <a:ext cx="8503920" cy="274320"/>
          </a:xfrm>
          <a:prstGeom prst="rect">
            <a:avLst/>
          </a:prstGeom>
          <a:solidFill>
            <a:srgbClr val="EEF2F7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2456688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63040" y="244754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productApi.js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3108960" y="2456688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calls — getAllProducts, createProduct, deleteProduct…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320040" y="2712720"/>
            <a:ext cx="85039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758440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51560" y="274929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router/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3108960" y="2758440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navigation</a:t>
            </a:r>
            <a:endParaRPr lang="en-US" sz="950" dirty="0"/>
          </a:p>
        </p:txBody>
      </p:sp>
      <p:sp>
        <p:nvSpPr>
          <p:cNvPr id="34" name="Shape 25"/>
          <p:cNvSpPr/>
          <p:nvPr/>
        </p:nvSpPr>
        <p:spPr>
          <a:xfrm>
            <a:off x="320040" y="3014472"/>
            <a:ext cx="8503920" cy="274320"/>
          </a:xfrm>
          <a:prstGeom prst="rect">
            <a:avLst/>
          </a:prstGeom>
          <a:solidFill>
            <a:srgbClr val="EEF2F7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3060192"/>
            <a:ext cx="201168" cy="20116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463040" y="30510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index.js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3108960" y="3060192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definitions: /  /about  /products  /login  /profile</a:t>
            </a:r>
            <a:endParaRPr lang="en-US" sz="950" dirty="0"/>
          </a:p>
        </p:txBody>
      </p:sp>
      <p:sp>
        <p:nvSpPr>
          <p:cNvPr id="38" name="Shape 28"/>
          <p:cNvSpPr/>
          <p:nvPr/>
        </p:nvSpPr>
        <p:spPr>
          <a:xfrm>
            <a:off x="320040" y="3316224"/>
            <a:ext cx="85039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361944"/>
            <a:ext cx="201168" cy="20116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1051560" y="33528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views/</a:t>
            </a:r>
            <a:endParaRPr lang="en-US" sz="1000" dirty="0"/>
          </a:p>
        </p:txBody>
      </p:sp>
      <p:sp>
        <p:nvSpPr>
          <p:cNvPr id="41" name="Text 30"/>
          <p:cNvSpPr/>
          <p:nvPr/>
        </p:nvSpPr>
        <p:spPr>
          <a:xfrm>
            <a:off x="3108960" y="336194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Page-level components (one per route)</a:t>
            </a:r>
            <a:endParaRPr lang="en-US" sz="950" dirty="0"/>
          </a:p>
        </p:txBody>
      </p:sp>
      <p:sp>
        <p:nvSpPr>
          <p:cNvPr id="42" name="Shape 31"/>
          <p:cNvSpPr/>
          <p:nvPr/>
        </p:nvSpPr>
        <p:spPr>
          <a:xfrm>
            <a:off x="320040" y="3617976"/>
            <a:ext cx="8503920" cy="274320"/>
          </a:xfrm>
          <a:prstGeom prst="rect">
            <a:avLst/>
          </a:prstGeom>
          <a:solidFill>
            <a:srgbClr val="EEF2F7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3663696"/>
            <a:ext cx="201168" cy="20116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1463040" y="36545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HomeView.vue</a:t>
            </a:r>
            <a:endParaRPr lang="en-US" sz="1000" dirty="0"/>
          </a:p>
        </p:txBody>
      </p:sp>
      <p:sp>
        <p:nvSpPr>
          <p:cNvPr id="45" name="Text 33"/>
          <p:cNvSpPr/>
          <p:nvPr/>
        </p:nvSpPr>
        <p:spPr>
          <a:xfrm>
            <a:off x="3108960" y="3663696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950" dirty="0"/>
          </a:p>
        </p:txBody>
      </p:sp>
      <p:sp>
        <p:nvSpPr>
          <p:cNvPr id="46" name="Shape 34"/>
          <p:cNvSpPr/>
          <p:nvPr/>
        </p:nvSpPr>
        <p:spPr>
          <a:xfrm>
            <a:off x="320040" y="3919728"/>
            <a:ext cx="85039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3965448"/>
            <a:ext cx="201168" cy="201168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1463040" y="39563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ProductView.vue</a:t>
            </a:r>
            <a:endParaRPr lang="en-US" sz="1000" dirty="0"/>
          </a:p>
        </p:txBody>
      </p:sp>
      <p:sp>
        <p:nvSpPr>
          <p:cNvPr id="49" name="Text 36"/>
          <p:cNvSpPr/>
          <p:nvPr/>
        </p:nvSpPr>
        <p:spPr>
          <a:xfrm>
            <a:off x="3108960" y="3965448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table, pagination, modal control</a:t>
            </a:r>
            <a:endParaRPr lang="en-US" sz="950" dirty="0"/>
          </a:p>
        </p:txBody>
      </p:sp>
      <p:sp>
        <p:nvSpPr>
          <p:cNvPr id="50" name="Shape 37"/>
          <p:cNvSpPr/>
          <p:nvPr/>
        </p:nvSpPr>
        <p:spPr>
          <a:xfrm>
            <a:off x="320040" y="4221480"/>
            <a:ext cx="8503920" cy="274320"/>
          </a:xfrm>
          <a:prstGeom prst="rect">
            <a:avLst/>
          </a:prstGeom>
          <a:solidFill>
            <a:srgbClr val="EEF2F7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4267200"/>
            <a:ext cx="201168" cy="201168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1463040" y="42580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LoginView.vue</a:t>
            </a:r>
            <a:endParaRPr lang="en-US" sz="1000" dirty="0"/>
          </a:p>
        </p:txBody>
      </p:sp>
      <p:sp>
        <p:nvSpPr>
          <p:cNvPr id="53" name="Text 39"/>
          <p:cNvSpPr/>
          <p:nvPr/>
        </p:nvSpPr>
        <p:spPr>
          <a:xfrm>
            <a:off x="3108960" y="4267200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 + auth API call</a:t>
            </a:r>
            <a:endParaRPr lang="en-US" sz="950" dirty="0"/>
          </a:p>
        </p:txBody>
      </p:sp>
      <p:sp>
        <p:nvSpPr>
          <p:cNvPr id="54" name="Shape 40"/>
          <p:cNvSpPr/>
          <p:nvPr/>
        </p:nvSpPr>
        <p:spPr>
          <a:xfrm>
            <a:off x="320040" y="4523232"/>
            <a:ext cx="85039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568952"/>
            <a:ext cx="201168" cy="201168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1051560" y="455980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</a:t>
            </a:r>
            <a:endParaRPr lang="en-US" sz="1000" dirty="0"/>
          </a:p>
        </p:txBody>
      </p:sp>
      <p:sp>
        <p:nvSpPr>
          <p:cNvPr id="57" name="Text 42"/>
          <p:cNvSpPr/>
          <p:nvPr/>
        </p:nvSpPr>
        <p:spPr>
          <a:xfrm>
            <a:off x="3108960" y="4568952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UI pieces</a:t>
            </a:r>
            <a:endParaRPr lang="en-US" sz="950" dirty="0"/>
          </a:p>
        </p:txBody>
      </p:sp>
      <p:sp>
        <p:nvSpPr>
          <p:cNvPr id="58" name="Shape 43"/>
          <p:cNvSpPr/>
          <p:nvPr/>
        </p:nvSpPr>
        <p:spPr>
          <a:xfrm>
            <a:off x="320040" y="4824984"/>
            <a:ext cx="8503920" cy="274320"/>
          </a:xfrm>
          <a:prstGeom prst="rect">
            <a:avLst/>
          </a:prstGeom>
          <a:solidFill>
            <a:srgbClr val="EEF2F7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4870704"/>
            <a:ext cx="201168" cy="201168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1463040" y="4861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AddProductModal.vue</a:t>
            </a:r>
            <a:endParaRPr lang="en-US" sz="1000" dirty="0"/>
          </a:p>
        </p:txBody>
      </p:sp>
      <p:sp>
        <p:nvSpPr>
          <p:cNvPr id="61" name="Text 45"/>
          <p:cNvSpPr/>
          <p:nvPr/>
        </p:nvSpPr>
        <p:spPr>
          <a:xfrm>
            <a:off x="3108960" y="487070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+ props/emit pattern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760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solves one specific problem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08888"/>
            <a:ext cx="2670048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11480" y="1008888"/>
            <a:ext cx="2670048" cy="54864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12648" y="1210056"/>
            <a:ext cx="594360" cy="594360"/>
          </a:xfrm>
          <a:prstGeom prst="ellipse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264920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2100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25880" y="15941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v3.5.30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76072" y="1969008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JS framework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component system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&amp; Options API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64408" y="1008888"/>
            <a:ext cx="2670048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3264408" y="1008888"/>
            <a:ext cx="2670048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3465576" y="1210056"/>
            <a:ext cx="594360" cy="59436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264920"/>
            <a:ext cx="475488" cy="4754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178808" y="12100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 Router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178808" y="15941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v4.6.4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429000" y="1969008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SPA router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definitions, guards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&lt;RouterView&gt;, &lt;RouterLink&gt;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117336" y="1008888"/>
            <a:ext cx="2670048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7"/>
          <p:cNvSpPr/>
          <p:nvPr/>
        </p:nvSpPr>
        <p:spPr>
          <a:xfrm>
            <a:off x="6117336" y="1008888"/>
            <a:ext cx="2670048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18"/>
          <p:cNvSpPr/>
          <p:nvPr/>
        </p:nvSpPr>
        <p:spPr>
          <a:xfrm>
            <a:off x="6318504" y="1210056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264920"/>
            <a:ext cx="475488" cy="4754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031736" y="12100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Axios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7031736" y="15941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v1.13.6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281928" y="1969008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Promise-based HTTP client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Interceptors, base URL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than fetch()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411480" y="3112008"/>
            <a:ext cx="2670048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3"/>
          <p:cNvSpPr/>
          <p:nvPr/>
        </p:nvSpPr>
        <p:spPr>
          <a:xfrm>
            <a:off x="411480" y="3112008"/>
            <a:ext cx="2670048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4"/>
          <p:cNvSpPr/>
          <p:nvPr/>
        </p:nvSpPr>
        <p:spPr>
          <a:xfrm>
            <a:off x="612648" y="3313176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3368040"/>
            <a:ext cx="475488" cy="47548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325880" y="33131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Vuex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1325880" y="36972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v4.x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576072" y="4072128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state store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Getters, Mutations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for async ops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3264408" y="3112008"/>
            <a:ext cx="2670048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29"/>
          <p:cNvSpPr/>
          <p:nvPr/>
        </p:nvSpPr>
        <p:spPr>
          <a:xfrm>
            <a:off x="3264408" y="3112008"/>
            <a:ext cx="2670048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0"/>
          <p:cNvSpPr/>
          <p:nvPr/>
        </p:nvSpPr>
        <p:spPr>
          <a:xfrm>
            <a:off x="3465576" y="3313176"/>
            <a:ext cx="594360" cy="5943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3368040"/>
            <a:ext cx="475488" cy="47548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178808" y="33131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Vite</a:t>
            </a:r>
            <a:endParaRPr lang="en-US" sz="1600" dirty="0"/>
          </a:p>
        </p:txBody>
      </p:sp>
      <p:sp>
        <p:nvSpPr>
          <p:cNvPr id="39" name="Text 32"/>
          <p:cNvSpPr/>
          <p:nvPr/>
        </p:nvSpPr>
        <p:spPr>
          <a:xfrm>
            <a:off x="4178808" y="36972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v8.0.0</a:t>
            </a:r>
            <a:endParaRPr lang="en-US" sz="950" dirty="0"/>
          </a:p>
        </p:txBody>
      </p:sp>
      <p:sp>
        <p:nvSpPr>
          <p:cNvPr id="40" name="Text 33"/>
          <p:cNvSpPr/>
          <p:nvPr/>
        </p:nvSpPr>
        <p:spPr>
          <a:xfrm>
            <a:off x="3429000" y="4072128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Lightning-fast build tool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HMR dev server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modules native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5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1097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42B8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286000" y="16459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 Router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0" y="2514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URLs to components without page reloads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 Router — How It Works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760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change → router matches → view renders inside &lt;RouterView&gt;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475488"/>
          </a:xfrm>
          <a:prstGeom prst="rect">
            <a:avLst/>
          </a:prstGeom>
          <a:solidFill>
            <a:srgbClr val="35495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49808" y="118872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96696" y="1188720"/>
            <a:ext cx="164592" cy="164592"/>
          </a:xfrm>
          <a:prstGeom prst="ellipse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371600" y="1143000"/>
            <a:ext cx="7132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463040" y="115214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https://myapp.com/products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554480"/>
            <a:ext cx="0" cy="32004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194560" y="1874520"/>
            <a:ext cx="4754880" cy="658368"/>
          </a:xfrm>
          <a:prstGeom prst="rect">
            <a:avLst/>
          </a:prstGeom>
          <a:solidFill>
            <a:srgbClr val="35495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152" y="1965960"/>
            <a:ext cx="320040" cy="320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788920" y="1984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router/index.js  — matches  /products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0" y="2532888"/>
            <a:ext cx="0" cy="32004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365760" y="2852928"/>
            <a:ext cx="8412480" cy="2148840"/>
          </a:xfrm>
          <a:prstGeom prst="rect">
            <a:avLst/>
          </a:prstGeom>
          <a:solidFill>
            <a:srgbClr val="E8F5EE"/>
          </a:solidFill>
          <a:ln w="1905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530352" y="2907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App.vue  — root component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" y="3200400"/>
            <a:ext cx="8046720" cy="384048"/>
          </a:xfrm>
          <a:prstGeom prst="rect">
            <a:avLst/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594360" y="32186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194560" y="32186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/about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794760" y="32186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394960" y="32186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995160" y="32186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02920" y="3657600"/>
            <a:ext cx="80467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658368" y="37124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&lt;RouterView /&gt;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58368" y="4023360"/>
            <a:ext cx="7726680" cy="713232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914400" y="413308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ProductView.vue  renders here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 Definitions &amp; Key Concepts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760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mapping of paths to page components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051560"/>
            <a:ext cx="5029200" cy="347472"/>
          </a:xfrm>
          <a:prstGeom prst="rect">
            <a:avLst/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00200" y="1078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20440" y="1078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399032"/>
            <a:ext cx="50292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47472" y="1399032"/>
            <a:ext cx="45720" cy="402336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75488" y="14904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36192" y="14904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HomeView.vue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20440" y="1508760"/>
            <a:ext cx="182880" cy="182880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749040" y="149047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1837944"/>
            <a:ext cx="5029200" cy="402336"/>
          </a:xfrm>
          <a:prstGeom prst="rect">
            <a:avLst/>
          </a:prstGeom>
          <a:solidFill>
            <a:srgbClr val="EEF2F7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47472" y="1837944"/>
            <a:ext cx="45720" cy="40233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75488" y="19293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/about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36192" y="19293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AboutView.vue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20440" y="1947672"/>
            <a:ext cx="182880" cy="182880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749040" y="19293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2276856"/>
            <a:ext cx="50292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347472" y="2276856"/>
            <a:ext cx="45720" cy="40233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75488" y="23682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36192" y="23682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ProductView.vue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520440" y="2386584"/>
            <a:ext cx="182880" cy="182880"/>
          </a:xfrm>
          <a:prstGeom prst="ellipse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749040" y="23682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7472" y="2715768"/>
            <a:ext cx="5029200" cy="402336"/>
          </a:xfrm>
          <a:prstGeom prst="rect">
            <a:avLst/>
          </a:prstGeom>
          <a:solidFill>
            <a:srgbClr val="EEF2F7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347472" y="2715768"/>
            <a:ext cx="45720" cy="40233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75488" y="28072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36192" y="28072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LoginView.vue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520440" y="2825496"/>
            <a:ext cx="182880" cy="182880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3749040" y="28072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7472" y="3154680"/>
            <a:ext cx="50292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347472" y="3154680"/>
            <a:ext cx="45720" cy="40233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75488" y="32461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536192" y="3246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ProfileView.vue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520440" y="3264408"/>
            <a:ext cx="182880" cy="182880"/>
          </a:xfrm>
          <a:prstGeom prst="ellipse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3749040" y="32461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77840" y="1051560"/>
            <a:ext cx="3200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5577840" y="1051560"/>
            <a:ext cx="54864" cy="9144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5742432" y="114300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&lt;RouterView /&gt;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742432" y="1490472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in App.vue where the matched view component renders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577840" y="2057400"/>
            <a:ext cx="3200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5577840" y="2057400"/>
            <a:ext cx="54864" cy="9144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5742432" y="214884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&lt;RouterLink to&gt;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742432" y="2496312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link — no page reload, updates URL silently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577840" y="3063240"/>
            <a:ext cx="3200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5577840" y="3063240"/>
            <a:ext cx="54864" cy="9144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5742432" y="315468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router.push()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742432" y="3502152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navigation, e.g. redirect to /profile after login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77840" y="4069080"/>
            <a:ext cx="3200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5577840" y="4069080"/>
            <a:ext cx="54864" cy="9144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5742432" y="416052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to.meta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742432" y="4507992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route metadata used by beforeEach guards to check access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5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1097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42B8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286000" y="16459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 Communication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0" y="2514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Down ↓  —  Events Up ↑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Props &amp; Emit — Parent ↔ Child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760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Unidirectional data flow: data down, events up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078992"/>
            <a:ext cx="8449056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42B88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47472" y="1078992"/>
            <a:ext cx="8449056" cy="347472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292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ProductView.vue  —  Parent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4023360" cy="1005840"/>
          </a:xfrm>
          <a:prstGeom prst="rect">
            <a:avLst/>
          </a:prstGeom>
          <a:solidFill>
            <a:srgbClr val="1E2D3D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02920" y="1481328"/>
            <a:ext cx="4023360" cy="256032"/>
          </a:xfrm>
          <a:prstGeom prst="rect">
            <a:avLst/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12648" y="15087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0936" y="1828800"/>
            <a:ext cx="3767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&lt;AddProductModal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:visible="showAddModal"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@close="handleCloseModal"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@add="handleAddProduct"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1481328"/>
            <a:ext cx="4023360" cy="1005840"/>
          </a:xfrm>
          <a:prstGeom prst="rect">
            <a:avLst/>
          </a:prstGeom>
          <a:solidFill>
            <a:srgbClr val="1E2D3D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663440" y="1481328"/>
            <a:ext cx="4023360" cy="256032"/>
          </a:xfrm>
          <a:prstGeom prst="rect">
            <a:avLst/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773168" y="15087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91456" y="1828800"/>
            <a:ext cx="3767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data() { return { showAddModal: false }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handleCloseModal() { this.showAddModal = false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handleAddProduct(data)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createProduct(data);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this.showAddModal = false;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514600" y="2615184"/>
            <a:ext cx="0" cy="566928"/>
          </a:xfrm>
          <a:prstGeom prst="line">
            <a:avLst/>
          </a:prstGeom>
          <a:noFill/>
          <a:ln w="3175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450592" y="3145536"/>
            <a:ext cx="128016" cy="54864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47472" y="2651760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57200" y="26609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:visible="showAddModal"  →  prop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629400" y="2615184"/>
            <a:ext cx="0" cy="566928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565392" y="2578608"/>
            <a:ext cx="128016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720840" y="2651760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812280" y="26609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$emit('add', data)  ↑  event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" y="29626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DOWN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20840" y="29626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UP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3246120"/>
            <a:ext cx="8449056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347472" y="3246120"/>
            <a:ext cx="8449056" cy="34747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02920" y="32826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AddProductModal.vue  —  Child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3657600"/>
            <a:ext cx="4023360" cy="1207008"/>
          </a:xfrm>
          <a:prstGeom prst="rect">
            <a:avLst/>
          </a:prstGeom>
          <a:solidFill>
            <a:srgbClr val="1E2D3D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502920" y="3657600"/>
            <a:ext cx="4023360" cy="256032"/>
          </a:xfrm>
          <a:prstGeom prst="rect">
            <a:avLst/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12648" y="3685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Props + local state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" y="4005072"/>
            <a:ext cx="37673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props: { visible: { type: Boolean, default: false }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data() { return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product: { title:'', price:0,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category:'', description:'', image:''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3657600"/>
            <a:ext cx="4023360" cy="1207008"/>
          </a:xfrm>
          <a:prstGeom prst="rect">
            <a:avLst/>
          </a:prstGeom>
          <a:solidFill>
            <a:srgbClr val="1E2D3D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663440" y="3657600"/>
            <a:ext cx="4023360" cy="256032"/>
          </a:xfrm>
          <a:prstGeom prst="rect">
            <a:avLst/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773168" y="3685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Emitting events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91456" y="4005072"/>
            <a:ext cx="37673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closeModal() { this.$emit('close')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submitProduct()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this.$emit('add', { ...this.product })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Sequence: Add Product 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760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interaction across all actors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4173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35495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417320" cy="54864"/>
          </a:xfrm>
          <a:prstGeom prst="rect">
            <a:avLst/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65860" y="1618488"/>
            <a:ext cx="0" cy="3337560"/>
          </a:xfrm>
          <a:prstGeom prst="line">
            <a:avLst/>
          </a:prstGeom>
          <a:noFill/>
          <a:ln w="12700">
            <a:solidFill>
              <a:srgbClr val="35495E"/>
            </a:solidFill>
            <a:prstDash val="sysDash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194560" y="1051560"/>
            <a:ext cx="14173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42B88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194560" y="1051560"/>
            <a:ext cx="1417320" cy="54864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194560" y="111556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ProductView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(Parent)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03220" y="1618488"/>
            <a:ext cx="0" cy="3337560"/>
          </a:xfrm>
          <a:prstGeom prst="line">
            <a:avLst/>
          </a:prstGeom>
          <a:noFill/>
          <a:ln w="12700">
            <a:solidFill>
              <a:srgbClr val="42B883"/>
            </a:solidFill>
            <a:prstDash val="sysDash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114800" y="1051560"/>
            <a:ext cx="14173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114800" y="1051560"/>
            <a:ext cx="141732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114800" y="111556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AddProduct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23460" y="1618488"/>
            <a:ext cx="0" cy="3337560"/>
          </a:xfrm>
          <a:prstGeom prst="line">
            <a:avLst/>
          </a:prstGeom>
          <a:noFill/>
          <a:ln w="12700">
            <a:solidFill>
              <a:srgbClr val="2563EB"/>
            </a:solidFill>
            <a:prstDash val="sysDash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035040" y="1051560"/>
            <a:ext cx="14173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035040" y="1051560"/>
            <a:ext cx="14173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035040" y="111556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(Axios)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43700" y="1618488"/>
            <a:ext cx="0" cy="3337560"/>
          </a:xfrm>
          <a:prstGeom prst="line">
            <a:avLst/>
          </a:prstGeom>
          <a:noFill/>
          <a:ln w="12700">
            <a:solidFill>
              <a:srgbClr val="0891B2"/>
            </a:solidFill>
            <a:prstDash val="sysDash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7863840" y="1051560"/>
            <a:ext cx="14173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863840" y="1051560"/>
            <a:ext cx="141732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863840" y="111556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572500" y="1618488"/>
            <a:ext cx="0" cy="3337560"/>
          </a:xfrm>
          <a:prstGeom prst="line">
            <a:avLst/>
          </a:prstGeom>
          <a:noFill/>
          <a:ln w="12700">
            <a:solidFill>
              <a:srgbClr val="D97706"/>
            </a:solidFill>
            <a:prstDash val="sysDash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165860" y="1901952"/>
            <a:ext cx="1737360" cy="0"/>
          </a:xfrm>
          <a:prstGeom prst="line">
            <a:avLst/>
          </a:prstGeom>
          <a:noFill/>
          <a:ln w="19050">
            <a:solidFill>
              <a:srgbClr val="3549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220724" y="17007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5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Click "Add Product"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080260" y="2194560"/>
            <a:ext cx="2377440" cy="237744"/>
          </a:xfrm>
          <a:prstGeom prst="roundRect">
            <a:avLst>
              <a:gd name="adj" fmla="val 15385"/>
            </a:avLst>
          </a:prstGeom>
          <a:solidFill>
            <a:srgbClr val="EEF2F7"/>
          </a:solidFill>
          <a:ln w="635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2098548" y="2203704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showAddModal = true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903220" y="2487168"/>
            <a:ext cx="1920240" cy="0"/>
          </a:xfrm>
          <a:prstGeom prst="line">
            <a:avLst/>
          </a:prstGeom>
          <a:noFill/>
          <a:ln w="1905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2958084" y="2493263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:visible prop → true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000500" y="2779776"/>
            <a:ext cx="2377440" cy="237744"/>
          </a:xfrm>
          <a:prstGeom prst="roundRect">
            <a:avLst>
              <a:gd name="adj" fmla="val 15385"/>
            </a:avLst>
          </a:prstGeom>
          <a:solidFill>
            <a:srgbClr val="EEF2F7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018788" y="2788920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Modal opens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165860" y="3054096"/>
            <a:ext cx="3657600" cy="0"/>
          </a:xfrm>
          <a:prstGeom prst="line">
            <a:avLst/>
          </a:prstGeom>
          <a:noFill/>
          <a:ln w="19050">
            <a:solidFill>
              <a:srgbClr val="3549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1220724" y="28529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5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Fill &amp; submit form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903220" y="3364992"/>
            <a:ext cx="192024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2958084" y="31638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$emit('add', data)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903220" y="3657600"/>
            <a:ext cx="38404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2958084" y="34564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createProduct(data)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743700" y="3931920"/>
            <a:ext cx="182880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6798564" y="37307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POST /products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743700" y="4224528"/>
            <a:ext cx="182880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798564" y="40233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 201 Created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903220" y="4517136"/>
            <a:ext cx="3840480" cy="0"/>
          </a:xfrm>
          <a:prstGeom prst="line">
            <a:avLst/>
          </a:prstGeom>
          <a:noFill/>
          <a:ln w="1905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2958084" y="43159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 products.push(item)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5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1097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42B8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286000" y="16459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Pagination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0" y="2514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the array — Vue's reactivity does the rest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Pagination Logic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760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products, 5 per page → 3 pages, computed automatically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078992"/>
            <a:ext cx="8449056" cy="640080"/>
          </a:xfrm>
          <a:prstGeom prst="rect">
            <a:avLst/>
          </a:prstGeom>
          <a:solidFill>
            <a:srgbClr val="35495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pageCount  =  Math.ceil( 12 ÷ 5 )  =  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 =  (page − 1) × 5   |   end  =  start + 5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2670048" cy="3090672"/>
          </a:xfrm>
          <a:prstGeom prst="rect">
            <a:avLst/>
          </a:prstGeom>
          <a:solidFill>
            <a:srgbClr val="FFFFFF"/>
          </a:solidFill>
          <a:ln w="25400">
            <a:solidFill>
              <a:srgbClr val="42B88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47472" y="1828800"/>
            <a:ext cx="2670048" cy="402336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47472" y="1828800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1  ← current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2677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slice(0, 5)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" y="2578608"/>
            <a:ext cx="2304288" cy="365760"/>
          </a:xfrm>
          <a:prstGeom prst="rect">
            <a:avLst/>
          </a:prstGeom>
          <a:solidFill>
            <a:srgbClr val="E8F5EE"/>
          </a:solidFill>
          <a:ln w="635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30352" y="257860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" y="3017520"/>
            <a:ext cx="2304288" cy="365760"/>
          </a:xfrm>
          <a:prstGeom prst="rect">
            <a:avLst/>
          </a:prstGeom>
          <a:solidFill>
            <a:srgbClr val="E8F5EE"/>
          </a:solidFill>
          <a:ln w="635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30352" y="30175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" y="3456432"/>
            <a:ext cx="2304288" cy="365760"/>
          </a:xfrm>
          <a:prstGeom prst="rect">
            <a:avLst/>
          </a:prstGeom>
          <a:solidFill>
            <a:srgbClr val="E8F5EE"/>
          </a:solidFill>
          <a:ln w="635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30352" y="345643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0352" y="3895344"/>
            <a:ext cx="2304288" cy="365760"/>
          </a:xfrm>
          <a:prstGeom prst="rect">
            <a:avLst/>
          </a:prstGeom>
          <a:solidFill>
            <a:srgbClr val="E8F5EE"/>
          </a:solidFill>
          <a:ln w="635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30352" y="389534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" y="4334256"/>
            <a:ext cx="2304288" cy="365760"/>
          </a:xfrm>
          <a:prstGeom prst="rect">
            <a:avLst/>
          </a:prstGeom>
          <a:solidFill>
            <a:srgbClr val="E8F5EE"/>
          </a:solidFill>
          <a:ln w="635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30352" y="433425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182112" y="1828800"/>
            <a:ext cx="2670048" cy="3090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3182112" y="1828800"/>
            <a:ext cx="2670048" cy="402336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182112" y="1828800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73552" y="22677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slice(5, 10)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64992" y="2578608"/>
            <a:ext cx="2304288" cy="365760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364992" y="257860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P6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64992" y="3017520"/>
            <a:ext cx="2304288" cy="365760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3364992" y="30175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P7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64992" y="3456432"/>
            <a:ext cx="2304288" cy="365760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3364992" y="345643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P8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364992" y="3895344"/>
            <a:ext cx="2304288" cy="365760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3364992" y="389534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P9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364992" y="4334256"/>
            <a:ext cx="2304288" cy="365760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3364992" y="433425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016752" y="1828800"/>
            <a:ext cx="2670048" cy="3090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6016752" y="1828800"/>
            <a:ext cx="2670048" cy="402336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6016752" y="1828800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08192" y="22677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slice(10, 15)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99632" y="2578608"/>
            <a:ext cx="2304288" cy="365760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6199632" y="257860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P11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99632" y="3017520"/>
            <a:ext cx="2304288" cy="365760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6199632" y="30175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P12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199632" y="3456432"/>
            <a:ext cx="2304288" cy="365760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6199632" y="345643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199632" y="3895344"/>
            <a:ext cx="2304288" cy="365760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6199632" y="389534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199632" y="4334256"/>
            <a:ext cx="2304288" cy="365760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6199632" y="433425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47472" y="4828032"/>
            <a:ext cx="8449056" cy="256032"/>
          </a:xfrm>
          <a:prstGeom prst="roundRect">
            <a:avLst>
              <a:gd name="adj" fmla="val 17857"/>
            </a:avLst>
          </a:prstGeom>
          <a:solidFill>
            <a:srgbClr val="E8F5EE"/>
          </a:solidFill>
          <a:ln w="635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Vue's reactivity: when currentPage changes → paginatedProducts auto-recalculates → table re-renders ✓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Pagination — Implementation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760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reactive pieces: data, computed, method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078992"/>
            <a:ext cx="4114800" cy="1417320"/>
          </a:xfrm>
          <a:prstGeom prst="rect">
            <a:avLst/>
          </a:prstGeom>
          <a:solidFill>
            <a:srgbClr val="1E2D3D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47472" y="1078992"/>
            <a:ext cx="4114800" cy="256032"/>
          </a:xfrm>
          <a:prstGeom prst="rect">
            <a:avLst/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11064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data()  —  state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426464"/>
            <a:ext cx="385876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products: [],      // ALL products from API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currentPage: 1,    // which page we are 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itemsPerPage: 5    // rows shown per page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1078992"/>
            <a:ext cx="4178808" cy="2468880"/>
          </a:xfrm>
          <a:prstGeom prst="rect">
            <a:avLst/>
          </a:prstGeom>
          <a:solidFill>
            <a:srgbClr val="1E2D3D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617720" y="1078992"/>
            <a:ext cx="4178808" cy="256032"/>
          </a:xfrm>
          <a:prstGeom prst="rect">
            <a:avLst/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727448" y="1106424"/>
            <a:ext cx="3995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computed  —  derived data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45736" y="1426464"/>
            <a:ext cx="392277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computed: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pageCount()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Math.ceil(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this.products.length / this.itemsPerPage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paginatedProducts()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start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(this.currentPage - 1) * this.itemsPerPage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this.products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.slice(start, start + this.itemsPerPage)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578608"/>
            <a:ext cx="4114800" cy="1417320"/>
          </a:xfrm>
          <a:prstGeom prst="rect">
            <a:avLst/>
          </a:prstGeom>
          <a:solidFill>
            <a:srgbClr val="1E2D3D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47472" y="2578608"/>
            <a:ext cx="4114800" cy="256032"/>
          </a:xfrm>
          <a:prstGeom prst="rect">
            <a:avLst/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methods  —  page change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2926080"/>
            <a:ext cx="385876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methods: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handlePageChange(pageNum)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this.currentPage = pageNum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Vue auto-recalculates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paginatedProducts 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35018" y="3922776"/>
            <a:ext cx="4052177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Template — only loop paginatedProducts --&gt;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 v-for="p in paginatedProducts" :key="p.id"&gt;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&lt;td&gt;{{ p.title }}&lt;/td&gt;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&lt;td&gt;{{ p.price }}&lt;/td&gt;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&lt;/tr&gt;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&lt;paginate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:page-count="pageCount"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:click-handler="handlePageChange"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:prev-text="'← Prev'"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:next-text="'Next →'"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7A882-8CFF-71E8-B52F-D7F93E618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B3C525-0D5A-B422-E3B4-B96640093665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17CC038-5E92-5605-ABB2-85DFA2727617}"/>
              </a:ext>
            </a:extLst>
          </p:cNvPr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73B2BAC-29AE-7302-FC92-8BD6450158B6}"/>
              </a:ext>
            </a:extLst>
          </p:cNvPr>
          <p:cNvSpPr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Pagination — Implementation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412691C-05D9-6B53-823D-161D10039A2D}"/>
              </a:ext>
            </a:extLst>
          </p:cNvPr>
          <p:cNvSpPr/>
          <p:nvPr/>
        </p:nvSpPr>
        <p:spPr>
          <a:xfrm>
            <a:off x="228600" y="5760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reactive pieces: data, computed, method</a:t>
            </a:r>
            <a:endParaRPr lang="en-US" sz="11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FB1E149-15B7-2B3E-7053-65D261A8686B}"/>
              </a:ext>
            </a:extLst>
          </p:cNvPr>
          <p:cNvSpPr/>
          <p:nvPr/>
        </p:nvSpPr>
        <p:spPr>
          <a:xfrm>
            <a:off x="229986" y="1095587"/>
            <a:ext cx="8212974" cy="3252893"/>
          </a:xfrm>
          <a:prstGeom prst="rect">
            <a:avLst/>
          </a:prstGeom>
          <a:solidFill>
            <a:srgbClr val="1E2D3D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5514F18-6073-583B-9106-D0F74B1811AA}"/>
              </a:ext>
            </a:extLst>
          </p:cNvPr>
          <p:cNvSpPr/>
          <p:nvPr/>
        </p:nvSpPr>
        <p:spPr>
          <a:xfrm>
            <a:off x="229986" y="1095587"/>
            <a:ext cx="8212974" cy="367453"/>
          </a:xfrm>
          <a:prstGeom prst="rect">
            <a:avLst/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52110A0-76AA-F66F-0569-60D75CB24DA5}"/>
              </a:ext>
            </a:extLst>
          </p:cNvPr>
          <p:cNvSpPr/>
          <p:nvPr/>
        </p:nvSpPr>
        <p:spPr>
          <a:xfrm>
            <a:off x="247283" y="1123019"/>
            <a:ext cx="8035205" cy="288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Template  —  display &amp; paginate component</a:t>
            </a: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2A8A9EE-9429-F19A-450E-61C433911B31}"/>
              </a:ext>
            </a:extLst>
          </p:cNvPr>
          <p:cNvSpPr/>
          <p:nvPr/>
        </p:nvSpPr>
        <p:spPr>
          <a:xfrm>
            <a:off x="228600" y="1443060"/>
            <a:ext cx="7964095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>
              <a:solidFill>
                <a:srgbClr val="D4E6F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Template — only loop paginatedProducts --&gt;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 v-for="p in paginatedProducts" :key="p.id"&gt;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&lt;td&gt;{{ p.title }}&lt;/td&gt;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&lt;td&gt;{{ p.price }}&lt;/td&gt;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&lt;/tr&gt;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&lt;paginate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:page-count="pageCount"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:click-handler="handlePageChange"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:prev-text="'← Prev'"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:next-text="'Next →'"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4229444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5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1097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42B8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286000" y="16459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Service Layer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0" y="2514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productApi.js — one function per HTTP operation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productApi.js — HTTP Methods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760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abstracts all network calls into named functions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078992"/>
            <a:ext cx="4752066" cy="347472"/>
          </a:xfrm>
          <a:prstGeom prst="rect">
            <a:avLst/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75488" y="1097280"/>
            <a:ext cx="16594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24328" y="1097280"/>
            <a:ext cx="16594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93008" y="1097280"/>
            <a:ext cx="16594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426464"/>
            <a:ext cx="4752066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75488" y="1517904"/>
            <a:ext cx="1659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getAllProducts()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42032" y="1517904"/>
            <a:ext cx="543093" cy="237744"/>
          </a:xfrm>
          <a:prstGeom prst="roundRect">
            <a:avLst>
              <a:gd name="adj" fmla="val 15385"/>
            </a:avLst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542032" y="1517904"/>
            <a:ext cx="5430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73552" y="1517904"/>
            <a:ext cx="1885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1883664"/>
            <a:ext cx="4752066" cy="420624"/>
          </a:xfrm>
          <a:prstGeom prst="rect">
            <a:avLst/>
          </a:prstGeom>
          <a:solidFill>
            <a:srgbClr val="EEF2F7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75488" y="1975104"/>
            <a:ext cx="1659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getProductById(id)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42032" y="1975104"/>
            <a:ext cx="543093" cy="237744"/>
          </a:xfrm>
          <a:prstGeom prst="roundRect">
            <a:avLst>
              <a:gd name="adj" fmla="val 15385"/>
            </a:avLst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2542032" y="1975104"/>
            <a:ext cx="5430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73552" y="1975104"/>
            <a:ext cx="1885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/products/{id}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2340864"/>
            <a:ext cx="4752066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75488" y="2432304"/>
            <a:ext cx="1659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createProduct(data)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42032" y="2432304"/>
            <a:ext cx="543093" cy="237744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2542032" y="2432304"/>
            <a:ext cx="5430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73552" y="2432304"/>
            <a:ext cx="1885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7472" y="2798064"/>
            <a:ext cx="4752066" cy="420624"/>
          </a:xfrm>
          <a:prstGeom prst="rect">
            <a:avLst/>
          </a:prstGeom>
          <a:solidFill>
            <a:srgbClr val="EEF2F7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75488" y="2889504"/>
            <a:ext cx="1659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updateProduct(id,data)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42032" y="2889504"/>
            <a:ext cx="543093" cy="237744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2542032" y="2889504"/>
            <a:ext cx="5430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73552" y="2889504"/>
            <a:ext cx="1885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/products/{id}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7472" y="3255264"/>
            <a:ext cx="4752066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75488" y="3346704"/>
            <a:ext cx="1659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patchProduct(id,data)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42032" y="3346704"/>
            <a:ext cx="543093" cy="237744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2542032" y="3346704"/>
            <a:ext cx="5430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273552" y="3346704"/>
            <a:ext cx="1885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/products/{id}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47472" y="3712464"/>
            <a:ext cx="4752066" cy="420624"/>
          </a:xfrm>
          <a:prstGeom prst="rect">
            <a:avLst/>
          </a:prstGeom>
          <a:solidFill>
            <a:srgbClr val="EEF2F7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475488" y="3803904"/>
            <a:ext cx="1659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deleteProduct(id)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542032" y="3803904"/>
            <a:ext cx="543093" cy="237744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2542032" y="3803904"/>
            <a:ext cx="5430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273552" y="3803904"/>
            <a:ext cx="1885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/products/{id}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159292" y="1078992"/>
            <a:ext cx="3916128" cy="3768852"/>
          </a:xfrm>
          <a:prstGeom prst="rect">
            <a:avLst/>
          </a:prstGeom>
          <a:solidFill>
            <a:srgbClr val="1E2D3D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5159292" y="1078992"/>
            <a:ext cx="3916128" cy="256032"/>
          </a:xfrm>
          <a:prstGeom prst="rect">
            <a:avLst/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5404760" y="1106424"/>
            <a:ext cx="32997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productApi.js — Axios pattern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379096" y="1426464"/>
            <a:ext cx="32705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axios from 'axios'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API = axios.create({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baseURL: 'https://fakestoreapi.com'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getAllProducts = () =&gt;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API.get('/products')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createProduct = (data) =&gt;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API.post('/products', data)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deleteProduct = (id) =&gt;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API.delete(`/products/${id}`)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TODO: implement the rest!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getProductById = (id) =&gt; { ...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updateProduct = (id, data) =&gt; { ... }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5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1097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42B8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286000" y="16459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0" y="2514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state + Route Guards = access control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— localStorage State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760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states: Guest → User → Admin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816352" cy="3913632"/>
          </a:xfrm>
          <a:prstGeom prst="rect">
            <a:avLst/>
          </a:prstGeom>
          <a:solidFill>
            <a:srgbClr val="EEF2F7"/>
          </a:solidFill>
          <a:ln w="19050">
            <a:solidFill>
              <a:srgbClr val="6B728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816352" cy="475488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344168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logged 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" y="1600200"/>
            <a:ext cx="2596896" cy="877824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84632" y="16276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21208" y="181051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isAuthenticated: —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21208" y="20116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username: —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21208" y="221284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isAdmin: —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8056" y="25420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Can access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8056" y="27432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Home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8056" y="29809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/about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8056" y="32186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/login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8056" y="35478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Blocked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8056" y="3749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/products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8056" y="39867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/profile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8056" y="42245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/admin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64408" y="1051560"/>
            <a:ext cx="2816352" cy="3913632"/>
          </a:xfrm>
          <a:prstGeom prst="rect">
            <a:avLst/>
          </a:prstGeom>
          <a:solidFill>
            <a:srgbClr val="E8F5EE"/>
          </a:solidFill>
          <a:ln w="19050">
            <a:solidFill>
              <a:srgbClr val="42B88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3264408" y="1051560"/>
            <a:ext cx="2816352" cy="475488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264408" y="1051560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64408" y="1344168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in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74136" y="1600200"/>
            <a:ext cx="2596896" cy="877824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429000" y="16276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65576" y="181051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isAuthenticated: 'true'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65576" y="20116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username: 'john_doe'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65576" y="221284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isAdmin: —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92424" y="25420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Can access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92424" y="27432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Home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92424" y="29809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/about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92424" y="32186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/login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92424" y="34564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/products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392424" y="369417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/profile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92424" y="40233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Blocked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92424" y="42245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/admin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08776" y="1033272"/>
            <a:ext cx="2816352" cy="3913632"/>
          </a:xfrm>
          <a:prstGeom prst="rect">
            <a:avLst/>
          </a:prstGeom>
          <a:solidFill>
            <a:srgbClr val="FFF7ED"/>
          </a:solidFill>
          <a:ln w="1905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6208776" y="1051560"/>
            <a:ext cx="2816352" cy="4754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6208776" y="1051560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208776" y="1344168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role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18504" y="1600200"/>
            <a:ext cx="2596896" cy="877824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6373368" y="16276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09944" y="181051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isAuthenticated: 'true'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09944" y="20116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username: 'admin'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409944" y="221284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isAdmin: 'true'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336792" y="25420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Can access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336792" y="27432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Home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36792" y="29809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/products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336792" y="32186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/profile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336792" y="34564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/admin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136392" y="2999232"/>
            <a:ext cx="128016" cy="0"/>
          </a:xfrm>
          <a:prstGeom prst="line">
            <a:avLst/>
          </a:prstGeom>
          <a:noFill/>
          <a:ln w="254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3246120" y="2953512"/>
            <a:ext cx="18288" cy="9144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2395728" y="27706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login()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080760" y="2999232"/>
            <a:ext cx="128016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6190488" y="2953512"/>
            <a:ext cx="18288" cy="914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5175504" y="273194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isAdmin=true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 Guard — beforeEach Decision 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760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every navigation — allow or redirect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11880" y="1078992"/>
            <a:ext cx="1645920" cy="475488"/>
          </a:xfrm>
          <a:prstGeom prst="ellipse">
            <a:avLst/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11880" y="1078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route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34840" y="1554480"/>
            <a:ext cx="0" cy="32004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108960" y="1874520"/>
            <a:ext cx="2651760" cy="530352"/>
          </a:xfrm>
          <a:prstGeom prst="rect">
            <a:avLst/>
          </a:prstGeom>
          <a:solidFill>
            <a:srgbClr val="EEF2F7"/>
          </a:solidFill>
          <a:ln w="1905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108960" y="18745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requiresAuth?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2139696"/>
            <a:ext cx="1371600" cy="0"/>
          </a:xfrm>
          <a:prstGeom prst="line">
            <a:avLst/>
          </a:prstGeom>
          <a:noFill/>
          <a:ln w="254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806440" y="1938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32320" y="1965960"/>
            <a:ext cx="1463040" cy="402336"/>
          </a:xfrm>
          <a:prstGeom prst="ellipse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132320" y="196596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Allow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2404872"/>
            <a:ext cx="0" cy="32004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489704" y="24871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08960" y="2724912"/>
            <a:ext cx="2651760" cy="530352"/>
          </a:xfrm>
          <a:prstGeom prst="rect">
            <a:avLst/>
          </a:prstGeom>
          <a:solidFill>
            <a:srgbClr val="EEF2F7"/>
          </a:solidFill>
          <a:ln w="1905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108960" y="272491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isAuthenticated?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08960" y="2990088"/>
            <a:ext cx="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2024107" y="236143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1752" y="2816352"/>
            <a:ext cx="1600200" cy="402336"/>
          </a:xfrm>
          <a:prstGeom prst="rect">
            <a:avLst/>
          </a:prstGeom>
          <a:solidFill>
            <a:srgbClr val="DC2626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01752" y="28163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/login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34840" y="3255264"/>
            <a:ext cx="0" cy="32004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489704" y="33375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08960" y="3575304"/>
            <a:ext cx="2651760" cy="530352"/>
          </a:xfrm>
          <a:prstGeom prst="rect">
            <a:avLst/>
          </a:prstGeom>
          <a:solidFill>
            <a:srgbClr val="EEF2F7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3108960" y="357530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requiresAdmin?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60720" y="3840480"/>
            <a:ext cx="1371600" cy="0"/>
          </a:xfrm>
          <a:prstGeom prst="line">
            <a:avLst/>
          </a:prstGeom>
          <a:noFill/>
          <a:ln w="254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806440" y="36393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0" y="3657600"/>
            <a:ext cx="1463040" cy="402336"/>
          </a:xfrm>
          <a:prstGeom prst="ellipse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7132320" y="36576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Allow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34840" y="4105656"/>
            <a:ext cx="0" cy="32004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489704" y="4187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08960" y="4425696"/>
            <a:ext cx="2651760" cy="530352"/>
          </a:xfrm>
          <a:prstGeom prst="rect">
            <a:avLst/>
          </a:prstGeom>
          <a:solidFill>
            <a:srgbClr val="EEF2F7"/>
          </a:solidFill>
          <a:ln w="1905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3108960" y="442569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isAdmin?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760720" y="4690872"/>
            <a:ext cx="1371600" cy="0"/>
          </a:xfrm>
          <a:prstGeom prst="line">
            <a:avLst/>
          </a:prstGeom>
          <a:noFill/>
          <a:ln w="254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5806440" y="44988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32320" y="4507992"/>
            <a:ext cx="1463040" cy="402336"/>
          </a:xfrm>
          <a:prstGeom prst="ellipse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7132320" y="450799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Allow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108960" y="4690872"/>
            <a:ext cx="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2048256" y="4608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1752" y="4507992"/>
            <a:ext cx="1600200" cy="402336"/>
          </a:xfrm>
          <a:prstGeom prst="rect">
            <a:avLst/>
          </a:prstGeom>
          <a:solidFill>
            <a:srgbClr val="DC2626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301752" y="450799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/  (home)</a:t>
            </a:r>
            <a:endParaRPr lang="en-US" sz="1000" dirty="0"/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6E469E44-7133-3D15-9862-F7DA01C5F4B2}"/>
              </a:ext>
            </a:extLst>
          </p:cNvPr>
          <p:cNvSpPr/>
          <p:nvPr/>
        </p:nvSpPr>
        <p:spPr>
          <a:xfrm>
            <a:off x="1109706" y="2258568"/>
            <a:ext cx="0" cy="557784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6" name="Shape 13">
            <a:extLst>
              <a:ext uri="{FF2B5EF4-FFF2-40B4-BE49-F238E27FC236}">
                <a16:creationId xmlns:a16="http://schemas.microsoft.com/office/drawing/2014/main" id="{A9294D38-0E54-C12B-974C-9BF4726DBB08}"/>
              </a:ext>
            </a:extLst>
          </p:cNvPr>
          <p:cNvSpPr/>
          <p:nvPr/>
        </p:nvSpPr>
        <p:spPr>
          <a:xfrm flipH="1">
            <a:off x="1109709" y="2215896"/>
            <a:ext cx="1999251" cy="33528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67BBC97A-869A-4307-82CA-F4FD08BBE0F5}"/>
              </a:ext>
            </a:extLst>
          </p:cNvPr>
          <p:cNvSpPr/>
          <p:nvPr/>
        </p:nvSpPr>
        <p:spPr>
          <a:xfrm flipH="1">
            <a:off x="1101851" y="3858768"/>
            <a:ext cx="1999252" cy="33528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014D32E2-A982-D7FB-75DF-F7DEF396A7D2}"/>
              </a:ext>
            </a:extLst>
          </p:cNvPr>
          <p:cNvSpPr/>
          <p:nvPr/>
        </p:nvSpPr>
        <p:spPr>
          <a:xfrm>
            <a:off x="1109943" y="3909060"/>
            <a:ext cx="0" cy="557784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 Guard — Code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760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router/index.js — beforeEach runs before every navigation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078992"/>
            <a:ext cx="8449056" cy="1261872"/>
          </a:xfrm>
          <a:prstGeom prst="rect">
            <a:avLst/>
          </a:prstGeom>
          <a:solidFill>
            <a:srgbClr val="1E2D3D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47472" y="1078992"/>
            <a:ext cx="8449056" cy="256032"/>
          </a:xfrm>
          <a:prstGeom prst="rect">
            <a:avLst/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1106424"/>
            <a:ext cx="8266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  —  route metadata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426464"/>
            <a:ext cx="8193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routes = [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path: '/',         component: HomeView,    meta: { requiresAuth: false } },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path: '/about',    component: AboutView,   meta: { requiresAuth: false } },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path: '/login',    component: LoginView,   meta: { requiresAuth: false } },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path: '/products', component: ProductView, meta: { requiresAuth: true, requiresAdmin: false } },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path: '/profile',  component: ProfileView, meta: { requiresAuth: true, requiresAdmin: false } },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path: '/admin',    component: AdminView,   meta: { requiresAuth: true, requiresAdmin: true  } },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3A3A6-8FC2-2D72-3DBD-EFEF8D1D9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124011-505A-E5E9-E4D7-6593651F2A43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CDFB869-599D-E2E9-F147-B31ABA0C9EC4}"/>
              </a:ext>
            </a:extLst>
          </p:cNvPr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90E026-317A-2722-276C-F2DF1701D9F6}"/>
              </a:ext>
            </a:extLst>
          </p:cNvPr>
          <p:cNvSpPr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 Guard — Code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59DBA64-B427-1520-9109-A7652DE72F95}"/>
              </a:ext>
            </a:extLst>
          </p:cNvPr>
          <p:cNvSpPr/>
          <p:nvPr/>
        </p:nvSpPr>
        <p:spPr>
          <a:xfrm>
            <a:off x="228600" y="5760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router/index.js — beforeEach runs before every navigation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9DB5CE5-275C-7965-A0B6-577675C2FD2B}"/>
              </a:ext>
            </a:extLst>
          </p:cNvPr>
          <p:cNvSpPr/>
          <p:nvPr/>
        </p:nvSpPr>
        <p:spPr>
          <a:xfrm>
            <a:off x="347472" y="1078992"/>
            <a:ext cx="8449056" cy="2542032"/>
          </a:xfrm>
          <a:prstGeom prst="rect">
            <a:avLst/>
          </a:prstGeom>
          <a:solidFill>
            <a:srgbClr val="1E2D3D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D59FCB1-913B-B867-5581-5F155A68A6B1}"/>
              </a:ext>
            </a:extLst>
          </p:cNvPr>
          <p:cNvSpPr/>
          <p:nvPr/>
        </p:nvSpPr>
        <p:spPr>
          <a:xfrm>
            <a:off x="347472" y="1078992"/>
            <a:ext cx="8449056" cy="256032"/>
          </a:xfrm>
          <a:prstGeom prst="rect">
            <a:avLst/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FD0C0C1-326E-55BB-091D-5F08B23CD3B9}"/>
              </a:ext>
            </a:extLst>
          </p:cNvPr>
          <p:cNvSpPr/>
          <p:nvPr/>
        </p:nvSpPr>
        <p:spPr>
          <a:xfrm>
            <a:off x="457200" y="1106424"/>
            <a:ext cx="8266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  —  navigation guard</a:t>
            </a:r>
            <a:endParaRPr lang="en-US" sz="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F954FE4-8AB3-C6F8-3838-B041DD11D50D}"/>
              </a:ext>
            </a:extLst>
          </p:cNvPr>
          <p:cNvSpPr/>
          <p:nvPr/>
        </p:nvSpPr>
        <p:spPr>
          <a:xfrm>
            <a:off x="475488" y="1426464"/>
            <a:ext cx="819302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router.beforeEach((to, from, next) =&gt;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1. Read current auth state from localStorage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isAuthenticated = localStorage.getItem('isAuthenticated') === 'true'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isAdmin         = localStorage.getItem('isAdmin')         === 'true'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2. Check what the destination route requires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(to.meta.requiresAuth &amp;&amp; !isAuthenticated)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alert('Please login to access this page')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next('/login')                    // ← redirect to login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if (to.meta.requiresAdmin &amp;&amp; !isAdmin)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alert('Admin privileges required')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next('/')                         // ← redirect to home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next()                            // ← allow navigation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7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BFC4310-6CD4-F305-AE08-9B1CBE0BCA49}"/>
              </a:ext>
            </a:extLst>
          </p:cNvPr>
          <p:cNvSpPr/>
          <p:nvPr/>
        </p:nvSpPr>
        <p:spPr>
          <a:xfrm>
            <a:off x="347472" y="3703320"/>
            <a:ext cx="8449056" cy="274320"/>
          </a:xfrm>
          <a:prstGeom prst="rect">
            <a:avLst/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1E2480F-E8B2-7109-6753-7C3279063571}"/>
              </a:ext>
            </a:extLst>
          </p:cNvPr>
          <p:cNvSpPr/>
          <p:nvPr/>
        </p:nvSpPr>
        <p:spPr>
          <a:xfrm>
            <a:off x="457200" y="37216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A4DAAB3-2B4D-6FC0-8DBB-830AF33F184D}"/>
              </a:ext>
            </a:extLst>
          </p:cNvPr>
          <p:cNvSpPr/>
          <p:nvPr/>
        </p:nvSpPr>
        <p:spPr>
          <a:xfrm>
            <a:off x="2926080" y="37216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9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902D122-2AF7-79A7-8CB0-B14B46E24EA6}"/>
              </a:ext>
            </a:extLst>
          </p:cNvPr>
          <p:cNvSpPr/>
          <p:nvPr/>
        </p:nvSpPr>
        <p:spPr>
          <a:xfrm>
            <a:off x="4754880" y="37216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2106750-24B9-38E9-8242-D5534E70FFCE}"/>
              </a:ext>
            </a:extLst>
          </p:cNvPr>
          <p:cNvSpPr/>
          <p:nvPr/>
        </p:nvSpPr>
        <p:spPr>
          <a:xfrm>
            <a:off x="6583680" y="37216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B454D8A-FD61-D245-F4D1-7BA26872F14A}"/>
              </a:ext>
            </a:extLst>
          </p:cNvPr>
          <p:cNvSpPr/>
          <p:nvPr/>
        </p:nvSpPr>
        <p:spPr>
          <a:xfrm>
            <a:off x="457200" y="3995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Guest: public only  |  User: + /products /profile  |  Admin: + /admin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75977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5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1097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42B8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286000" y="16459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Vuex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0" y="2514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state — one store, every component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Vuex — Four Core Concepts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760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bank: vault, teller, deposit slip, manager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20624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4206240" cy="54864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21208" y="1261872"/>
            <a:ext cx="658368" cy="658368"/>
          </a:xfrm>
          <a:prstGeom prst="ellipse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316736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2435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2B8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25880" y="16093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Vault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4632" y="1993392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application data.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products[], user{}, loading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modify directly — always go through mutations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09160" y="1078992"/>
            <a:ext cx="420624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4709160" y="1078992"/>
            <a:ext cx="420624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4910328" y="1261872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316736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715000" y="12435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GETTERS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715000" y="16093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Teller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873752" y="1993392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values derived from state.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cartTotal(), productCount()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computed properties for the store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20040" y="3090672"/>
            <a:ext cx="420624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7"/>
          <p:cNvSpPr/>
          <p:nvPr/>
        </p:nvSpPr>
        <p:spPr>
          <a:xfrm>
            <a:off x="320040" y="3090672"/>
            <a:ext cx="420624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18"/>
          <p:cNvSpPr/>
          <p:nvPr/>
        </p:nvSpPr>
        <p:spPr>
          <a:xfrm>
            <a:off x="521208" y="3273552"/>
            <a:ext cx="658368" cy="65836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328416"/>
            <a:ext cx="548640" cy="5486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25880" y="32552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MUTATIONS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1325880" y="36210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Slip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84632" y="4005072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to change state.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SYNCHRONOUS — no await.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Naming: UPPER_SNAKE_CASE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709160" y="3090672"/>
            <a:ext cx="420624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3"/>
          <p:cNvSpPr/>
          <p:nvPr/>
        </p:nvSpPr>
        <p:spPr>
          <a:xfrm>
            <a:off x="4709160" y="3090672"/>
            <a:ext cx="420624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4"/>
          <p:cNvSpPr/>
          <p:nvPr/>
        </p:nvSpPr>
        <p:spPr>
          <a:xfrm>
            <a:off x="4910328" y="3273552"/>
            <a:ext cx="658368" cy="65836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328416"/>
            <a:ext cx="548640" cy="5486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715000" y="32552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ACTIONS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5715000" y="36210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Manager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873752" y="4005072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async ops &amp; API calls.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axios.get()  ✓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mutations to change state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Vuex Data Flow — The Complete Cycle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760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→ dispatch → Action → commit → Mutation → State → UI update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078992"/>
            <a:ext cx="8449056" cy="822960"/>
          </a:xfrm>
          <a:prstGeom prst="rect">
            <a:avLst/>
          </a:prstGeom>
          <a:solidFill>
            <a:srgbClr val="E8F5EE"/>
          </a:solidFill>
          <a:ln w="19050">
            <a:solidFill>
              <a:srgbClr val="42B88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47472" y="1078992"/>
            <a:ext cx="8449056" cy="73152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B8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 Component  (ProductView.vue)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 →  this.$store.getters.allProducts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0" y="14447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 →  this.$store.dispatch('fetchProducts')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2029968"/>
            <a:ext cx="8449056" cy="278892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0292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Vuex Store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395728"/>
            <a:ext cx="1920240" cy="2304288"/>
          </a:xfrm>
          <a:prstGeom prst="rect">
            <a:avLst/>
          </a:prstGeom>
          <a:solidFill>
            <a:srgbClr val="FFFFFF"/>
          </a:solidFill>
          <a:ln w="19050">
            <a:solidFill>
              <a:srgbClr val="42B88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02920" y="2395728"/>
            <a:ext cx="1920240" cy="347472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02920" y="23957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27980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products: [...]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32278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{...}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3657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loading: false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0873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null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33472" y="2395728"/>
            <a:ext cx="1920240" cy="2304288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2633472" y="2395728"/>
            <a:ext cx="1920240" cy="34747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2633472" y="23957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24912" y="27980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allProducts(state)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24912" y="32278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productCount(state)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24912" y="3657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isLoading(state)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24912" y="40873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isAuthenticated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64024" y="2395728"/>
            <a:ext cx="1920240" cy="2304288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764024" y="2395728"/>
            <a:ext cx="1920240" cy="3474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764024" y="23957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MUTATIONS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55464" y="27980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SET_PRODUCTS(state,d)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55464" y="32278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ADD_PRODUCT(state,d)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55464" y="3657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DELETE_PRODUCT(s,id)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55464" y="40873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SET_LOADING(s,bool)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94576" y="2395728"/>
            <a:ext cx="1783080" cy="2304288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6894576" y="2395728"/>
            <a:ext cx="1783080" cy="3474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6894576" y="23957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67728" y="279806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fetchProducts()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67728" y="322783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createProduct()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67728" y="365760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deleteProduct()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967728" y="4087368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loginUser()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375904" y="1901952"/>
            <a:ext cx="0" cy="475488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8311896" y="2331720"/>
            <a:ext cx="128016" cy="7315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7315200" y="192024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7ED"/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7315200" y="19202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dispatch()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781544" y="4700016"/>
            <a:ext cx="0" cy="256032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5724144" y="4956048"/>
            <a:ext cx="20574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5724144" y="4700016"/>
            <a:ext cx="0" cy="256032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5660136" y="4654296"/>
            <a:ext cx="128016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6053328" y="4974336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F3E8FF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6053328" y="49743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commit(mutation)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724144" y="4700016"/>
            <a:ext cx="0" cy="274320"/>
          </a:xfrm>
          <a:prstGeom prst="line">
            <a:avLst/>
          </a:prstGeom>
          <a:noFill/>
          <a:ln w="254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2423160" y="4974336"/>
            <a:ext cx="3300984" cy="0"/>
          </a:xfrm>
          <a:prstGeom prst="line">
            <a:avLst/>
          </a:prstGeom>
          <a:noFill/>
          <a:ln w="254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2423160" y="4700016"/>
            <a:ext cx="0" cy="256032"/>
          </a:xfrm>
          <a:prstGeom prst="line">
            <a:avLst/>
          </a:prstGeom>
          <a:noFill/>
          <a:ln w="254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2359152" y="4654296"/>
            <a:ext cx="128016" cy="73152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3200400" y="4732019"/>
            <a:ext cx="1463040" cy="201168"/>
          </a:xfrm>
          <a:prstGeom prst="roundRect">
            <a:avLst>
              <a:gd name="adj" fmla="val 18182"/>
            </a:avLst>
          </a:prstGeom>
          <a:solidFill>
            <a:srgbClr val="E8F5EE"/>
          </a:solidFill>
          <a:ln w="635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3200400" y="4732019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state.products = data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8677656" y="3200400"/>
            <a:ext cx="118872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ysDash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6912864" y="3054096"/>
            <a:ext cx="1691640" cy="201168"/>
          </a:xfrm>
          <a:prstGeom prst="roundRect">
            <a:avLst>
              <a:gd name="adj" fmla="val 18182"/>
            </a:avLst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6912864" y="305409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await axios(API)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02920" y="2029968"/>
            <a:ext cx="0" cy="365760"/>
          </a:xfrm>
          <a:prstGeom prst="line">
            <a:avLst/>
          </a:prstGeom>
          <a:noFill/>
          <a:ln w="25400">
            <a:solidFill>
              <a:srgbClr val="42B883"/>
            </a:solidFill>
            <a:prstDash val="sysDash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438912" y="1975104"/>
            <a:ext cx="128016" cy="73152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347472" y="1901952"/>
            <a:ext cx="1645920" cy="201168"/>
          </a:xfrm>
          <a:prstGeom prst="roundRect">
            <a:avLst>
              <a:gd name="adj" fmla="val 18182"/>
            </a:avLst>
          </a:prstGeom>
          <a:solidFill>
            <a:srgbClr val="E8F5EE"/>
          </a:solidFill>
          <a:ln w="635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347472" y="19019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⑤ reactive → UI re-renders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Vuex — Store Implementation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760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src/store/index.js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078992"/>
            <a:ext cx="4297680" cy="2880360"/>
          </a:xfrm>
          <a:prstGeom prst="rect">
            <a:avLst/>
          </a:prstGeom>
          <a:solidFill>
            <a:srgbClr val="1E2D3D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47472" y="1078992"/>
            <a:ext cx="4297680" cy="256032"/>
          </a:xfrm>
          <a:prstGeom prst="rect">
            <a:avLst/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110642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store/index.js  —  state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426464"/>
            <a:ext cx="40416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createStore } from 'vuex'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getAllProducts, createProduct, deleteProduct } from '@/api/productApi'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createStore({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products: [],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loading:  false,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error:    null,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user: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username:        localStorage.getItem('username') || '',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isAuthenticated: localStorage.getItem('isAuthenticated') === 'true',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isAdmin:         localStorage.getItem('isAdmin') === 'true',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800600" y="1078992"/>
            <a:ext cx="3995928" cy="2880360"/>
          </a:xfrm>
          <a:prstGeom prst="rect">
            <a:avLst/>
          </a:prstGeom>
          <a:solidFill>
            <a:srgbClr val="1E2D3D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800600" y="1078992"/>
            <a:ext cx="3995928" cy="256032"/>
          </a:xfrm>
          <a:prstGeom prst="rect">
            <a:avLst/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910328" y="1106424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getters + mutations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28616" y="1426464"/>
            <a:ext cx="3739896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getters: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allProducts:     (state) =&gt; state.products,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productCount:    (state) =&gt; state.products.length,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isLoading:       (state) =&gt; state.loading,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isAuthenticated: (state) =&gt; state.user.isAuthenticated,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mutations: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SET_PRODUCTS(state, products) { state.products = products 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ADD_PRODUCT(state, product)   { state.products.push(product) 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DELETE_PRODUCT(state, id)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state.products = state.products.filter(p =&gt; p.id !== id)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SET_LOADING(state, val) { state.loading = val 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SET_ERROR(state, err)   { state.error = err 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CE5FB-BCB4-4D9B-9249-2D5C2B188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CEBFDA7-7223-EC03-F7AF-84A20B0533FF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73ECEE7-0D0B-29D4-4FB8-FA1B6CCC180F}"/>
              </a:ext>
            </a:extLst>
          </p:cNvPr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19E9AF5-2C12-3A32-D1A8-337B641D75AA}"/>
              </a:ext>
            </a:extLst>
          </p:cNvPr>
          <p:cNvSpPr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Vuex — Store Implementation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34A723-5235-A0A8-389A-F9BE964309C5}"/>
              </a:ext>
            </a:extLst>
          </p:cNvPr>
          <p:cNvSpPr/>
          <p:nvPr/>
        </p:nvSpPr>
        <p:spPr>
          <a:xfrm>
            <a:off x="228600" y="5760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src/store/index.js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4B0B594-2AFE-2265-4C93-BB0917AB42DE}"/>
              </a:ext>
            </a:extLst>
          </p:cNvPr>
          <p:cNvSpPr/>
          <p:nvPr/>
        </p:nvSpPr>
        <p:spPr>
          <a:xfrm>
            <a:off x="347472" y="1115567"/>
            <a:ext cx="8449056" cy="3146943"/>
          </a:xfrm>
          <a:prstGeom prst="rect">
            <a:avLst/>
          </a:prstGeom>
          <a:solidFill>
            <a:srgbClr val="1E2D3D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189FD5A-0C05-3805-F94E-047D81C044D3}"/>
              </a:ext>
            </a:extLst>
          </p:cNvPr>
          <p:cNvSpPr/>
          <p:nvPr/>
        </p:nvSpPr>
        <p:spPr>
          <a:xfrm>
            <a:off x="347472" y="1115568"/>
            <a:ext cx="8449056" cy="256032"/>
          </a:xfrm>
          <a:prstGeom prst="rect">
            <a:avLst/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6BB6E8B-8E12-E38F-83DF-D419E440300D}"/>
              </a:ext>
            </a:extLst>
          </p:cNvPr>
          <p:cNvSpPr/>
          <p:nvPr/>
        </p:nvSpPr>
        <p:spPr>
          <a:xfrm>
            <a:off x="457200" y="1143000"/>
            <a:ext cx="8266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  (async — API calls live here)</a:t>
            </a:r>
            <a:endParaRPr lang="en-US" sz="9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63A7654-62C2-BE28-B55D-35D8FCA049E4}"/>
              </a:ext>
            </a:extLst>
          </p:cNvPr>
          <p:cNvSpPr/>
          <p:nvPr/>
        </p:nvSpPr>
        <p:spPr>
          <a:xfrm>
            <a:off x="475488" y="1463040"/>
            <a:ext cx="8193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actions: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fetchProducts({ commit })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commit('SET_LOADING', true)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try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{ data } = await getAllProducts()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commit('SET_PRODUCTS', data)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 catch (e) { commit('SET_ERROR', e.message)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 finally  { commit('SET_LOADING', false)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addProduct({ commit }, productData)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{ data } = await createProduct(productData)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commit('ADD_PRODUCT', data)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removeProduct({ commit }, id)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await deleteProduct(id)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commit('DELETE_PRODUCT', id)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57398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Vuex in Components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760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reads, methods dispatch — clean and testable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078992"/>
            <a:ext cx="4224528" cy="2212848"/>
          </a:xfrm>
          <a:prstGeom prst="rect">
            <a:avLst/>
          </a:prstGeom>
          <a:solidFill>
            <a:srgbClr val="1E2D3D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47472" y="1078992"/>
            <a:ext cx="4224528" cy="256032"/>
          </a:xfrm>
          <a:prstGeom prst="rect">
            <a:avLst/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1106424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 —  computed properties map to getters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426464"/>
            <a:ext cx="396849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ProductView.vue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computed: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products()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this.$store.getters.allProducts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isLoading()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this.$store.getters.isLoading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productCount()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this.$store.getters.productCount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1078992"/>
            <a:ext cx="4224528" cy="2212848"/>
          </a:xfrm>
          <a:prstGeom prst="rect">
            <a:avLst/>
          </a:prstGeom>
          <a:solidFill>
            <a:srgbClr val="1E2D3D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572000" y="1078992"/>
            <a:ext cx="4224528" cy="256032"/>
          </a:xfrm>
          <a:prstGeom prst="rect">
            <a:avLst/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681728" y="1106424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 —  methods dispatch actions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00016" y="1426464"/>
            <a:ext cx="396849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methods: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handleAddProduct(data)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this.$store.dispatch('addProduct', data)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this.showModal = false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handleDelete(id)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this.$store.dispatch('removeProduct', id)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mounted()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this.$store.dispatch('fetchProducts')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3401568"/>
            <a:ext cx="8449056" cy="347472"/>
          </a:xfrm>
          <a:prstGeom prst="rect">
            <a:avLst/>
          </a:prstGeom>
          <a:solidFill>
            <a:srgbClr val="3549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75488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35808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  (commit)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61888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 (dispatch)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3749040"/>
            <a:ext cx="8449056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75488" y="37856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(await)?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035808" y="378561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No — must be sync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0" y="37856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Yes — use await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4023360"/>
            <a:ext cx="8449056" cy="256032"/>
          </a:xfrm>
          <a:prstGeom prst="rect">
            <a:avLst/>
          </a:prstGeom>
          <a:solidFill>
            <a:srgbClr val="EEF2F7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75488" y="40599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calls?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035808" y="405993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No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0" y="40599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Yes — axios here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4297680"/>
            <a:ext cx="8449056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75488" y="43342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state?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035808" y="43342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Yes — directly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0" y="43342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No — commit mutation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4572000"/>
            <a:ext cx="8449056" cy="256032"/>
          </a:xfrm>
          <a:prstGeom prst="rect">
            <a:avLst/>
          </a:prstGeom>
          <a:solidFill>
            <a:srgbClr val="EEF2F7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75488" y="46085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logic?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035808" y="460857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Keep simple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0" y="46085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Yes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7472" y="4846320"/>
            <a:ext cx="8449056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475488" y="48828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with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35808" y="48828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commit('NAME', payload)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86400" y="4882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dispatch('name', payload)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Tasks — TODO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760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these features to finish the application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078992"/>
            <a:ext cx="8449056" cy="34747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Layer  —  productApi.js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426464"/>
            <a:ext cx="844905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02920" y="1517904"/>
            <a:ext cx="182880" cy="182880"/>
          </a:xfrm>
          <a:prstGeom prst="ellipse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77240" y="1481328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getProductById(id)            GET   /products/{id}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1773936"/>
            <a:ext cx="8449056" cy="347472"/>
          </a:xfrm>
          <a:prstGeom prst="rect">
            <a:avLst/>
          </a:prstGeom>
          <a:solidFill>
            <a:srgbClr val="EEF2F7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02920" y="1865376"/>
            <a:ext cx="182880" cy="182880"/>
          </a:xfrm>
          <a:prstGeom prst="ellipse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77240" y="1828800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getProductsByCategory(cat)    GET   /products/category/{cat}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121408"/>
            <a:ext cx="844905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02920" y="2212848"/>
            <a:ext cx="182880" cy="182880"/>
          </a:xfrm>
          <a:prstGeom prst="ellipse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77240" y="217627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updateProduct(id, data)       PUT   /products/{id}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2468880"/>
            <a:ext cx="8449056" cy="347472"/>
          </a:xfrm>
          <a:prstGeom prst="rect">
            <a:avLst/>
          </a:prstGeom>
          <a:solidFill>
            <a:srgbClr val="EEF2F7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02920" y="2560320"/>
            <a:ext cx="182880" cy="182880"/>
          </a:xfrm>
          <a:prstGeom prst="ellipse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77240" y="2523744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patchProduct(id, data)        PATCH /products/{id}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2926080"/>
            <a:ext cx="8449056" cy="347472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02920" y="29260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Layer  —  ProductView.vue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" y="3273552"/>
            <a:ext cx="844905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02920" y="3364992"/>
            <a:ext cx="182880" cy="182880"/>
          </a:xfrm>
          <a:prstGeom prst="ellipse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77240" y="3328416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editProduct(product)   — open edit modal → call updateProduct → refresh list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" y="3621024"/>
            <a:ext cx="8449056" cy="347472"/>
          </a:xfrm>
          <a:prstGeom prst="rect">
            <a:avLst/>
          </a:prstGeom>
          <a:solidFill>
            <a:srgbClr val="EEF2F7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502920" y="3712464"/>
            <a:ext cx="182880" cy="182880"/>
          </a:xfrm>
          <a:prstGeom prst="ellipse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777240" y="3675888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viewProduct(product)   — show detail in modal or navigate to new route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7C675-2C15-E750-BEAD-BBE978238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0F1AA1-8ACF-D2D4-BF70-40A44143D81C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7EE343E-33F4-48A1-9903-7D99AD67D026}"/>
              </a:ext>
            </a:extLst>
          </p:cNvPr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B0D90B3-6A56-9EC6-8A26-3CFD2DA1EB76}"/>
              </a:ext>
            </a:extLst>
          </p:cNvPr>
          <p:cNvSpPr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Tasks — TODO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EBF7334-ABB5-5458-98E6-0F1B27E05F03}"/>
              </a:ext>
            </a:extLst>
          </p:cNvPr>
          <p:cNvSpPr/>
          <p:nvPr/>
        </p:nvSpPr>
        <p:spPr>
          <a:xfrm>
            <a:off x="228600" y="5760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these features to finish the application</a:t>
            </a:r>
            <a:endParaRPr lang="en-US" sz="11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D732B8C-9547-BFBB-2A95-D94256D93F68}"/>
              </a:ext>
            </a:extLst>
          </p:cNvPr>
          <p:cNvSpPr/>
          <p:nvPr/>
        </p:nvSpPr>
        <p:spPr>
          <a:xfrm>
            <a:off x="347472" y="1115568"/>
            <a:ext cx="8449056" cy="3474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A9C822B-8E79-37E9-51A7-7DAA14B07299}"/>
              </a:ext>
            </a:extLst>
          </p:cNvPr>
          <p:cNvSpPr/>
          <p:nvPr/>
        </p:nvSpPr>
        <p:spPr>
          <a:xfrm>
            <a:off x="50292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Bonus Challenges</a:t>
            </a:r>
            <a:endParaRPr lang="en-US" sz="13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8CB4833-FBE8-265F-42C2-7FDF6FB64BBB}"/>
              </a:ext>
            </a:extLst>
          </p:cNvPr>
          <p:cNvSpPr/>
          <p:nvPr/>
        </p:nvSpPr>
        <p:spPr>
          <a:xfrm>
            <a:off x="347472" y="1463040"/>
            <a:ext cx="844905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2903082-5A88-A6EE-6BDA-B7C709F1C12C}"/>
              </a:ext>
            </a:extLst>
          </p:cNvPr>
          <p:cNvSpPr/>
          <p:nvPr/>
        </p:nvSpPr>
        <p:spPr>
          <a:xfrm>
            <a:off x="502920" y="1554480"/>
            <a:ext cx="182880" cy="182880"/>
          </a:xfrm>
          <a:prstGeom prst="ellipse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EAEDBD7-FAA1-EEE0-BC30-BFC12C847AC7}"/>
              </a:ext>
            </a:extLst>
          </p:cNvPr>
          <p:cNvSpPr/>
          <p:nvPr/>
        </p:nvSpPr>
        <p:spPr>
          <a:xfrm>
            <a:off x="777240" y="1517904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Migrate products[] into Vuex store — use actions for all CRUD operations</a:t>
            </a:r>
            <a:endParaRPr lang="en-US" sz="9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D5153D3-70DA-894F-376F-157B3E0A4A5F}"/>
              </a:ext>
            </a:extLst>
          </p:cNvPr>
          <p:cNvSpPr/>
          <p:nvPr/>
        </p:nvSpPr>
        <p:spPr>
          <a:xfrm>
            <a:off x="347472" y="1810512"/>
            <a:ext cx="8449056" cy="347472"/>
          </a:xfrm>
          <a:prstGeom prst="rect">
            <a:avLst/>
          </a:prstGeom>
          <a:solidFill>
            <a:srgbClr val="EEF2F7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D4FDF111-985E-A79C-A129-9E4DF0B91B4F}"/>
              </a:ext>
            </a:extLst>
          </p:cNvPr>
          <p:cNvSpPr/>
          <p:nvPr/>
        </p:nvSpPr>
        <p:spPr>
          <a:xfrm>
            <a:off x="502920" y="1901952"/>
            <a:ext cx="182880" cy="182880"/>
          </a:xfrm>
          <a:prstGeom prst="ellipse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FEEF89E-F703-1D73-FB46-4C82BA5B729D}"/>
              </a:ext>
            </a:extLst>
          </p:cNvPr>
          <p:cNvSpPr/>
          <p:nvPr/>
        </p:nvSpPr>
        <p:spPr>
          <a:xfrm>
            <a:off x="777240" y="1865376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isAdmin role — protect /admin route with beforeEach guard</a:t>
            </a:r>
            <a:endParaRPr lang="en-US" sz="9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44FB2B24-B459-ACBB-5D58-5F9FAA9C8866}"/>
              </a:ext>
            </a:extLst>
          </p:cNvPr>
          <p:cNvSpPr/>
          <p:nvPr/>
        </p:nvSpPr>
        <p:spPr>
          <a:xfrm>
            <a:off x="347472" y="2157984"/>
            <a:ext cx="844905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1363AD79-BFB1-57DA-2543-24DAEE9AAEF3}"/>
              </a:ext>
            </a:extLst>
          </p:cNvPr>
          <p:cNvSpPr/>
          <p:nvPr/>
        </p:nvSpPr>
        <p:spPr>
          <a:xfrm>
            <a:off x="502920" y="2249424"/>
            <a:ext cx="182880" cy="182880"/>
          </a:xfrm>
          <a:prstGeom prst="ellipse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E4F8817F-E85F-1A76-4FEE-073371992562}"/>
              </a:ext>
            </a:extLst>
          </p:cNvPr>
          <p:cNvSpPr/>
          <p:nvPr/>
        </p:nvSpPr>
        <p:spPr>
          <a:xfrm>
            <a:off x="777240" y="2212848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loading spinner while API is in-flight, toast on success/error</a:t>
            </a:r>
            <a:endParaRPr lang="en-US" sz="95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2472CC1D-A89D-731A-1585-39AE676E4E74}"/>
              </a:ext>
            </a:extLst>
          </p:cNvPr>
          <p:cNvSpPr/>
          <p:nvPr/>
        </p:nvSpPr>
        <p:spPr>
          <a:xfrm>
            <a:off x="347472" y="2615184"/>
            <a:ext cx="8449056" cy="274320"/>
          </a:xfrm>
          <a:prstGeom prst="roundRect">
            <a:avLst>
              <a:gd name="adj" fmla="val 16667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A7782C9-E7E7-FD35-A160-058C5859ECE0}"/>
              </a:ext>
            </a:extLst>
          </p:cNvPr>
          <p:cNvSpPr/>
          <p:nvPr/>
        </p:nvSpPr>
        <p:spPr>
          <a:xfrm>
            <a:off x="502920" y="2633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Order: API functions → View functions → Vuex migration → Bonus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353346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5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2B8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Concepts Recap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822960"/>
          </a:xfrm>
          <a:prstGeom prst="rect">
            <a:avLst/>
          </a:prstGeom>
          <a:solidFill>
            <a:srgbClr val="1F3550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4864" cy="822960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02336" y="9601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2B8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033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 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4416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Vue SPA → API Layer → REST API. Router swaps views without reload.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206240" cy="822960"/>
          </a:xfrm>
          <a:prstGeom prst="rect">
            <a:avLst/>
          </a:prstGeom>
          <a:solidFill>
            <a:srgbClr val="1F3550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54864" cy="8229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882896" y="9601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4960" y="1033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 Router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34416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route-to-component mapping. beforeEach guards protect private routes.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920240"/>
            <a:ext cx="4206240" cy="822960"/>
          </a:xfrm>
          <a:prstGeom prst="rect">
            <a:avLst/>
          </a:prstGeom>
          <a:solidFill>
            <a:srgbClr val="1F3550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1920240"/>
            <a:ext cx="54864" cy="8229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02336" y="19202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Props &amp; Emits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30428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DOWN via props, signals flow UP via $emit. Parent owns state.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920240"/>
            <a:ext cx="4206240" cy="822960"/>
          </a:xfrm>
          <a:prstGeom prst="rect">
            <a:avLst/>
          </a:prstGeom>
          <a:solidFill>
            <a:srgbClr val="1F3550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754880" y="192024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882896" y="19202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Pagination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30428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slice() + computed properties. Vue reactivity handles re-render automatically.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880360"/>
            <a:ext cx="4206240" cy="822960"/>
          </a:xfrm>
          <a:prstGeom prst="rect">
            <a:avLst/>
          </a:prstGeom>
          <a:solidFill>
            <a:srgbClr val="1F3550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274320" y="2880360"/>
            <a:ext cx="54864" cy="8229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02336" y="28803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2953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Service Layer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326440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in productApi.js keeps components clean. One function per HTTP verb.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880360"/>
            <a:ext cx="4206240" cy="822960"/>
          </a:xfrm>
          <a:prstGeom prst="rect">
            <a:avLst/>
          </a:prstGeom>
          <a:solidFill>
            <a:srgbClr val="1F3550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754880" y="2880360"/>
            <a:ext cx="54864" cy="8229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882896" y="28803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94960" y="2953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+ Route Guards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326440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tracks session. beforeEach redirects unauthorized users.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14600" y="3749040"/>
            <a:ext cx="4206240" cy="804672"/>
          </a:xfrm>
          <a:prstGeom prst="rect">
            <a:avLst/>
          </a:prstGeom>
          <a:solidFill>
            <a:srgbClr val="243B55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2514600" y="3749040"/>
            <a:ext cx="54864" cy="804672"/>
          </a:xfrm>
          <a:prstGeom prst="rect">
            <a:avLst/>
          </a:prstGeom>
          <a:solidFill>
            <a:srgbClr val="42B88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2642616" y="374904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2B8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154680" y="3822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Vuex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154680" y="411480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→ Getters → Mutations → Actions. Centralized, traceable, testable.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3145</Words>
  <Application>Microsoft Office PowerPoint</Application>
  <PresentationFormat>On-screen Show (16:9)</PresentationFormat>
  <Paragraphs>680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Vue.js Product Management</dc:title>
  <dc:subject>PptxGenJS Presentation</dc:subject>
  <dc:creator>PptxGenJS</dc:creator>
  <cp:lastModifiedBy>Vinh Hoang</cp:lastModifiedBy>
  <cp:revision>2</cp:revision>
  <dcterms:created xsi:type="dcterms:W3CDTF">2026-04-02T06:21:13Z</dcterms:created>
  <dcterms:modified xsi:type="dcterms:W3CDTF">2026-04-02T06:35:31Z</dcterms:modified>
</cp:coreProperties>
</file>